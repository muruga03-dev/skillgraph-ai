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0080"/>
            <a:ext cx="502920" cy="50292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SkillGraph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79192" y="640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7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Intelligence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Your Dream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D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Career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71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Machine Learning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 analysis · Personalized roadmaps · Gamified learning · Student community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Highlights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868680"/>
            <a:ext cx="1325880" cy="1005840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960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14904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35240" y="868680"/>
            <a:ext cx="1325880" cy="1005840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960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F7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635240" y="14904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2057400"/>
            <a:ext cx="1325880" cy="1005840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E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72200" y="2679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Tracked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35240" y="2057400"/>
            <a:ext cx="1325880" cy="1005840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35240" y="2679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3246120"/>
            <a:ext cx="1325880" cy="1005840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7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72200" y="3867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35240" y="3246120"/>
            <a:ext cx="1325880" cy="1005840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E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35240" y="3867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Rounds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97280" y="4773168"/>
            <a:ext cx="0" cy="182880"/>
          </a:xfrm>
          <a:prstGeom prst="line">
            <a:avLst/>
          </a:prstGeom>
          <a:noFill/>
          <a:ln w="12700">
            <a:solidFill>
              <a:srgbClr val="1724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16152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084832" y="4773168"/>
            <a:ext cx="0" cy="182880"/>
          </a:xfrm>
          <a:prstGeom prst="line">
            <a:avLst/>
          </a:prstGeom>
          <a:noFill/>
          <a:ln w="12700">
            <a:solidFill>
              <a:srgbClr val="1724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03704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72384" y="4773168"/>
            <a:ext cx="0" cy="182880"/>
          </a:xfrm>
          <a:prstGeom prst="line">
            <a:avLst/>
          </a:prstGeom>
          <a:noFill/>
          <a:ln w="12700">
            <a:solidFill>
              <a:srgbClr val="1724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91256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059936" y="4773168"/>
            <a:ext cx="0" cy="182880"/>
          </a:xfrm>
          <a:prstGeom prst="line">
            <a:avLst/>
          </a:prstGeom>
          <a:noFill/>
          <a:ln w="12700">
            <a:solidFill>
              <a:srgbClr val="1724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78808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ML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47488" y="4773168"/>
            <a:ext cx="0" cy="182880"/>
          </a:xfrm>
          <a:prstGeom prst="line">
            <a:avLst/>
          </a:prstGeom>
          <a:noFill/>
          <a:ln w="12700">
            <a:solidFill>
              <a:srgbClr val="1724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35040" y="4773168"/>
            <a:ext cx="0" cy="182880"/>
          </a:xfrm>
          <a:prstGeom prst="line">
            <a:avLst/>
          </a:prstGeom>
          <a:noFill/>
          <a:ln w="12700">
            <a:solidFill>
              <a:srgbClr val="1724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3912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OAuth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22592" y="4773168"/>
            <a:ext cx="0" cy="182880"/>
          </a:xfrm>
          <a:prstGeom prst="line">
            <a:avLst/>
          </a:prstGeom>
          <a:noFill/>
          <a:ln w="12700">
            <a:solidFill>
              <a:srgbClr val="1724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41464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Login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10144" y="4773168"/>
            <a:ext cx="0" cy="182880"/>
          </a:xfrm>
          <a:prstGeom prst="line">
            <a:avLst/>
          </a:prstGeom>
          <a:noFill/>
          <a:ln w="12700">
            <a:solidFill>
              <a:srgbClr val="1724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29016" y="4773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Login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8E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Every CS Student Faces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5087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704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Career Direction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skills but don't know which tech career to pursue or what's missing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43200" cy="15087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2743200" cy="6400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1704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Learning Order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155448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advanced topics before prerequisites leads to confusion and wasted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005840"/>
            <a:ext cx="2743200" cy="15087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005840"/>
            <a:ext cx="2743200" cy="64008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1704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93408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Anxiety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72784" y="155448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know how to prepare across all 5 interview rounds (aptitude to system design)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2743200" cy="15087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97480"/>
            <a:ext cx="2743200" cy="6400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620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 Isolation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2461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to connect with peers, find mentors, or share achievements in STEM community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2697480"/>
            <a:ext cx="2743200" cy="15087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697480"/>
            <a:ext cx="2743200" cy="64008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28620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490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Cert Gaps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28416" y="32461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exist but are not verified or organized. Resume doesn't reflect real skills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056" y="2697480"/>
            <a:ext cx="2743200" cy="15087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697480"/>
            <a:ext cx="2743200" cy="6400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28620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93408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Motivation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72784" y="32461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gamification or progress tracking keeps students from staying consistent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SkillGraph AI solves ALL of these problems in one unified platform.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8E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AI-Powered Features — One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students need to go from beginner to hired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36576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179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Prediction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005840"/>
            <a:ext cx="2011680" cy="36576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15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15179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05840"/>
            <a:ext cx="2011680" cy="36576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15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15179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05840"/>
            <a:ext cx="2011680" cy="36576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115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15179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Verifier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33172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331720"/>
            <a:ext cx="2011680" cy="36576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4414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" y="28437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Challenges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23160" y="233172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23160" y="2331720"/>
            <a:ext cx="2011680" cy="36576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4414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514600" y="28437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Community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233172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331720"/>
            <a:ext cx="2011680" cy="36576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4414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09160" y="28437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233172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2331720"/>
            <a:ext cx="2011680" cy="36576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4414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03720" y="28437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Matching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" y="365760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657600"/>
            <a:ext cx="2011680" cy="36576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20040" y="4169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&amp; Internship Board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23160" y="365760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23160" y="3657600"/>
            <a:ext cx="2011680" cy="36576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514600" y="4169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Events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17720" y="365760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3657600"/>
            <a:ext cx="2011680" cy="36576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709160" y="4169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12280" y="3657600"/>
            <a:ext cx="2011680" cy="117043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12280" y="3657600"/>
            <a:ext cx="2011680" cy="36576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903720" y="4169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Assistant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8E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3-Tier Microservices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06040" cy="361188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5720" cy="361188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Port 3000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2331720" cy="182880"/>
          </a:xfrm>
          <a:prstGeom prst="rect">
            <a:avLst/>
          </a:prstGeom>
          <a:solidFill>
            <a:srgbClr val="060F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+ Auth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2331720" cy="182880"/>
          </a:xfrm>
          <a:prstGeom prst="rect">
            <a:avLst/>
          </a:prstGeom>
          <a:solidFill>
            <a:srgbClr val="070D1A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73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956816"/>
            <a:ext cx="2331720" cy="182880"/>
          </a:xfrm>
          <a:prstGeom prst="rect">
            <a:avLst/>
          </a:prstGeom>
          <a:solidFill>
            <a:srgbClr val="060F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7510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Analysis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157984"/>
            <a:ext cx="2331720" cy="182880"/>
          </a:xfrm>
          <a:prstGeom prst="rect">
            <a:avLst/>
          </a:prstGeom>
          <a:solidFill>
            <a:srgbClr val="070D1A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762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359152"/>
            <a:ext cx="2331720" cy="182880"/>
          </a:xfrm>
          <a:prstGeom prst="rect">
            <a:avLst/>
          </a:prstGeom>
          <a:solidFill>
            <a:srgbClr val="060F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774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560320"/>
            <a:ext cx="2331720" cy="182880"/>
          </a:xfrm>
          <a:prstGeom prst="rect">
            <a:avLst/>
          </a:prstGeom>
          <a:solidFill>
            <a:srgbClr val="070D1A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7860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2761488"/>
            <a:ext cx="2331720" cy="182880"/>
          </a:xfrm>
          <a:prstGeom prst="rect">
            <a:avLst/>
          </a:prstGeom>
          <a:solidFill>
            <a:srgbClr val="060F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7977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962656"/>
            <a:ext cx="2331720" cy="182880"/>
          </a:xfrm>
          <a:prstGeom prst="rect">
            <a:avLst/>
          </a:prstGeom>
          <a:solidFill>
            <a:srgbClr val="070D1A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8094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163824"/>
            <a:ext cx="2331720" cy="182880"/>
          </a:xfrm>
          <a:prstGeom prst="rect">
            <a:avLst/>
          </a:prstGeom>
          <a:solidFill>
            <a:srgbClr val="060F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(Socket.io)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364992"/>
            <a:ext cx="2331720" cy="182880"/>
          </a:xfrm>
          <a:prstGeom prst="rect">
            <a:avLst/>
          </a:prstGeom>
          <a:solidFill>
            <a:srgbClr val="070D1A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832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Internships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566160"/>
            <a:ext cx="2331720" cy="182880"/>
          </a:xfrm>
          <a:prstGeom prst="rect">
            <a:avLst/>
          </a:prstGeom>
          <a:solidFill>
            <a:srgbClr val="060F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844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767328"/>
            <a:ext cx="2331720" cy="182880"/>
          </a:xfrm>
          <a:prstGeom prst="rect">
            <a:avLst/>
          </a:prstGeom>
          <a:solidFill>
            <a:srgbClr val="070D1A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856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3968496"/>
            <a:ext cx="2331720" cy="182880"/>
          </a:xfrm>
          <a:prstGeom prst="rect">
            <a:avLst/>
          </a:prstGeom>
          <a:solidFill>
            <a:srgbClr val="060F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867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4169664"/>
            <a:ext cx="2331720" cy="182880"/>
          </a:xfrm>
          <a:prstGeom prst="rect">
            <a:avLst/>
          </a:prstGeom>
          <a:solidFill>
            <a:srgbClr val="070D1A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87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Mentors · Profile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07792" y="2697480"/>
            <a:ext cx="411480" cy="0"/>
          </a:xfrm>
          <a:prstGeom prst="line">
            <a:avLst/>
          </a:prstGeom>
          <a:noFill/>
          <a:ln w="25400">
            <a:solidFill>
              <a:srgbClr val="3D8E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880360" y="24871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JWT+REST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37560" y="914400"/>
            <a:ext cx="2606040" cy="361188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37560" y="914400"/>
            <a:ext cx="45720" cy="361188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10241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74720" y="12618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Port 5000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0" y="1554480"/>
            <a:ext cx="2331720" cy="182880"/>
          </a:xfrm>
          <a:prstGeom prst="rect">
            <a:avLst/>
          </a:prstGeom>
          <a:solidFill>
            <a:srgbClr val="0D0F24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15727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74720" y="1755648"/>
            <a:ext cx="2331720" cy="182880"/>
          </a:xfrm>
          <a:prstGeom prst="rect">
            <a:avLst/>
          </a:prstGeom>
          <a:solidFill>
            <a:srgbClr val="0A0D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1773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74720" y="1956816"/>
            <a:ext cx="2331720" cy="182880"/>
          </a:xfrm>
          <a:prstGeom prst="rect">
            <a:avLst/>
          </a:prstGeom>
          <a:solidFill>
            <a:srgbClr val="0D0F24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0" y="197510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OAuth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74720" y="2157984"/>
            <a:ext cx="2331720" cy="182880"/>
          </a:xfrm>
          <a:prstGeom prst="rect">
            <a:avLst/>
          </a:prstGeom>
          <a:solidFill>
            <a:srgbClr val="0A0D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21762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(Chat)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0" y="2359152"/>
            <a:ext cx="2331720" cy="182880"/>
          </a:xfrm>
          <a:prstGeom prst="rect">
            <a:avLst/>
          </a:prstGeom>
          <a:solidFill>
            <a:srgbClr val="0D0F24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0" y="23774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Uploads)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74720" y="2560320"/>
            <a:ext cx="2331720" cy="182880"/>
          </a:xfrm>
          <a:prstGeom prst="rect">
            <a:avLst/>
          </a:prstGeom>
          <a:solidFill>
            <a:srgbClr val="0A0D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0" y="257860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+ MongoDB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474720" y="2761488"/>
            <a:ext cx="2331720" cy="182880"/>
          </a:xfrm>
          <a:prstGeom prst="rect">
            <a:avLst/>
          </a:prstGeom>
          <a:solidFill>
            <a:srgbClr val="0D0F24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277977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Proxy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474720" y="2962656"/>
            <a:ext cx="2331720" cy="182880"/>
          </a:xfrm>
          <a:prstGeom prst="rect">
            <a:avLst/>
          </a:prstGeom>
          <a:solidFill>
            <a:srgbClr val="0A0D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0" y="298094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Routes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474720" y="3163824"/>
            <a:ext cx="2331720" cy="182880"/>
          </a:xfrm>
          <a:prstGeom prst="rect">
            <a:avLst/>
          </a:prstGeom>
          <a:solidFill>
            <a:srgbClr val="0D0F24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66160" y="318211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OCR route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474720" y="3364992"/>
            <a:ext cx="2331720" cy="182880"/>
          </a:xfrm>
          <a:prstGeom prst="rect">
            <a:avLst/>
          </a:prstGeom>
          <a:solidFill>
            <a:srgbClr val="0A0D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66160" y="33832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API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474720" y="3566160"/>
            <a:ext cx="2331720" cy="182880"/>
          </a:xfrm>
          <a:prstGeom prst="rect">
            <a:avLst/>
          </a:prstGeom>
          <a:solidFill>
            <a:srgbClr val="0D0F24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66160" y="35844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Mentors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474720" y="3767328"/>
            <a:ext cx="2331720" cy="182880"/>
          </a:xfrm>
          <a:prstGeom prst="rect">
            <a:avLst/>
          </a:prstGeom>
          <a:solidFill>
            <a:srgbClr val="0A0D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66160" y="37856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system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474720" y="3968496"/>
            <a:ext cx="2331720" cy="182880"/>
          </a:xfrm>
          <a:prstGeom prst="rect">
            <a:avLst/>
          </a:prstGeom>
          <a:solidFill>
            <a:srgbClr val="0D0F24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66160" y="39867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(reminders)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474720" y="4169664"/>
            <a:ext cx="2331720" cy="182880"/>
          </a:xfrm>
          <a:prstGeom prst="rect">
            <a:avLst/>
          </a:prstGeom>
          <a:solidFill>
            <a:srgbClr val="0A0D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66160" y="4187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scheduled tasks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971032" y="2697480"/>
            <a:ext cx="411480" cy="0"/>
          </a:xfrm>
          <a:prstGeom prst="line">
            <a:avLst/>
          </a:prstGeom>
          <a:noFill/>
          <a:ln w="25400">
            <a:solidFill>
              <a:srgbClr val="9F7AEA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5943600" y="24871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400800" y="914400"/>
            <a:ext cx="2468880" cy="361188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400800" y="914400"/>
            <a:ext cx="45720" cy="3611880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1024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53796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— Port 8000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537960" y="1554480"/>
            <a:ext cx="2194560" cy="182880"/>
          </a:xfrm>
          <a:prstGeom prst="rect">
            <a:avLst/>
          </a:prstGeom>
          <a:solidFill>
            <a:srgbClr val="0714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29400" y="15727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537960" y="1755648"/>
            <a:ext cx="2194560" cy="182880"/>
          </a:xfrm>
          <a:prstGeom prst="rect">
            <a:avLst/>
          </a:prstGeom>
          <a:solidFill>
            <a:srgbClr val="080F1C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29400" y="17739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537960" y="1956816"/>
            <a:ext cx="2194560" cy="182880"/>
          </a:xfrm>
          <a:prstGeom prst="rect">
            <a:avLst/>
          </a:prstGeom>
          <a:solidFill>
            <a:srgbClr val="0714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29400" y="1975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(Prerequisites)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537960" y="2157984"/>
            <a:ext cx="2194560" cy="182880"/>
          </a:xfrm>
          <a:prstGeom prst="rect">
            <a:avLst/>
          </a:prstGeom>
          <a:solidFill>
            <a:srgbClr val="080F1C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29400" y="21762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Sort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537960" y="2359152"/>
            <a:ext cx="2194560" cy="182880"/>
          </a:xfrm>
          <a:prstGeom prst="rect">
            <a:avLst/>
          </a:prstGeom>
          <a:solidFill>
            <a:srgbClr val="0714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29400" y="23774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NLP Extractor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537960" y="2560320"/>
            <a:ext cx="2194560" cy="182880"/>
          </a:xfrm>
          <a:prstGeom prst="rect">
            <a:avLst/>
          </a:prstGeom>
          <a:solidFill>
            <a:srgbClr val="080F1C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29400" y="25786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Resume Parser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537960" y="2761488"/>
            <a:ext cx="2194560" cy="182880"/>
          </a:xfrm>
          <a:prstGeom prst="rect">
            <a:avLst/>
          </a:prstGeom>
          <a:solidFill>
            <a:srgbClr val="0714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29400" y="27797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537960" y="2962656"/>
            <a:ext cx="2194560" cy="182880"/>
          </a:xfrm>
          <a:prstGeom prst="rect">
            <a:avLst/>
          </a:prstGeom>
          <a:solidFill>
            <a:srgbClr val="080F1C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629400" y="29809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Roadmaps JSON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537960" y="3163824"/>
            <a:ext cx="2194560" cy="182880"/>
          </a:xfrm>
          <a:prstGeom prst="rect">
            <a:avLst/>
          </a:prstGeom>
          <a:solidFill>
            <a:srgbClr val="0714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629400" y="3182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 Engine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37960" y="3364992"/>
            <a:ext cx="2194560" cy="182880"/>
          </a:xfrm>
          <a:prstGeom prst="rect">
            <a:avLst/>
          </a:prstGeom>
          <a:solidFill>
            <a:srgbClr val="080F1C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29400" y="33832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 Generator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537960" y="3566160"/>
            <a:ext cx="2194560" cy="182880"/>
          </a:xfrm>
          <a:prstGeom prst="rect">
            <a:avLst/>
          </a:prstGeom>
          <a:solidFill>
            <a:srgbClr val="0714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29400" y="3584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Data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537960" y="3767328"/>
            <a:ext cx="2194560" cy="182880"/>
          </a:xfrm>
          <a:prstGeom prst="rect">
            <a:avLst/>
          </a:prstGeom>
          <a:solidFill>
            <a:srgbClr val="080F1C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629400" y="3785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Suggestions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537960" y="3968496"/>
            <a:ext cx="2194560" cy="182880"/>
          </a:xfrm>
          <a:prstGeom prst="rect">
            <a:avLst/>
          </a:prstGeom>
          <a:solidFill>
            <a:srgbClr val="071420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629400" y="39867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Trends API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537960" y="4169664"/>
            <a:ext cx="2194560" cy="182880"/>
          </a:xfrm>
          <a:prstGeom prst="rect">
            <a:avLst/>
          </a:prstGeom>
          <a:solidFill>
            <a:srgbClr val="080F1C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629400" y="41879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337560" y="4663440"/>
            <a:ext cx="2606040" cy="34747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429000" y="4709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MongoDB — Users · Analysis · Posts · Messages · Events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8E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ML Algorithms Explained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99339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5720" cy="1993392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TF-IDF Vectorization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job skill sets into numerical vectors. TF = how often a skill appears. IDF = how unique it is across all jobs. High TF-IDF = skill is frequent in this job but rare overall.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" y="2084832"/>
            <a:ext cx="3858768" cy="694944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12140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vectorizer = TfidfVectorizer(ngram_range=(1,2))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job_vectors = vectorizer.fit_transform(job_docs)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199339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5720" cy="1993392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Cosine Similarity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angle between user skill vector and each job vector. sim(A,B) = A·B / (||A||×||B||). Returns value 0-1 (0=no match, 1=perfect match). Used to rank all 20 job roles.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73752" y="2084832"/>
            <a:ext cx="3858768" cy="694944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212140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sims = cosine_similarity(user_vec, job_vectors)[0]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sorted(enumerate(sims), key=lambda x: x[1])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60520" cy="199339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45720" cy="1993392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BFS Prerequisite Discovery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Traverses skill dependency graph backwards from target skills. If you want 'React', BFS finds: HTML → CSS → JavaScript → React. Ensures no skill is taught without its prerequisites.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4233672"/>
            <a:ext cx="3858768" cy="694944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27024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queue: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 = queue.popleft()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prereq in graph[skill]: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prereq not in visited: queue.append(prereq)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160520" cy="199339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63240"/>
            <a:ext cx="45720" cy="199339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Kahn's Topological Sort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520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discovered prerequisites so they're learned in the correct sequence. Processes nodes with zero in-degree (no prerequisites) first. Guarantees a valid learning order for any DAG.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73752" y="4233672"/>
            <a:ext cx="3858768" cy="694944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427024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In-degree 0 nodes first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[s for s in skills if in_deg[s]==0]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queue: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queue.pop(); order.append(n)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8E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Deep-Dive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160520" cy="201168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4160520" cy="4572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Skill Analysis + Career Prediction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Input: manual skills OR upload PDF resume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0624" y="1673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extracts skills via NLP (60+ skill vocabulary)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+ Cosine Similarity → top 5 career matches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Shows: match%, matching skills, missing skills, salary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analysis history for progress tracking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914400"/>
            <a:ext cx="4160520" cy="201168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914400"/>
            <a:ext cx="4160520" cy="4572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Career Roadmap with Timeline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5464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Step-by-step phases (Month 1-2, 3-4, etc.)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55464" y="1673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phase: skills to learn + daily tasks + milestone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55464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Curated FREE and paid course links per skill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55464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5 major career paths with full detail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55464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Powered by real roadmap JSON dataset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063240"/>
            <a:ext cx="4160520" cy="201168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63240"/>
            <a:ext cx="4160520" cy="457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Gamified Challenges + Leaderboard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weekly challenges (Beginner → Advanced)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0624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challenge: tasks, resources, point rewards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0624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Badges: First Analysis, Week Warrior, ML Pioneer...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0624" y="4425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leaderboard ranked by points + streak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0624" y="4727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Points for: analyses, certs, posts, challenges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3063240"/>
            <a:ext cx="4160520" cy="201168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3063240"/>
            <a:ext cx="4160520" cy="45720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Community + Real-time Chat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55464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LinkedIn-style feed: posts, likes, comments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55464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post types: achievement, question, resource...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55464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real-time study rooms via Socket.io WebSocket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55464" y="4425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Mentor matching by skill compatibility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55464" y="4727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Virtual events: webinars, career talks, Q&amp;A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8E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Datasets Powering SkillGraph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3035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5720" cy="530352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job_skills.csv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0" y="100584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job roles with required skills, description, avg salary (USD+INR), demand level, career path, and months to learn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17904"/>
            <a:ext cx="8595360" cy="53035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17904"/>
            <a:ext cx="45720" cy="530352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skill_graph.json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nodes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160934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skill nodes with difficulty, hours, category + 41 prerequisite/related edges for graph-based learning paths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8595360" cy="53035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21408"/>
            <a:ext cx="45720" cy="530352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945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career_roadmaps.json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140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paths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212848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detailed career roadmaps with monthly phases, tasks, milestones, and curated course links per phase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8595360" cy="53035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24912"/>
            <a:ext cx="45720" cy="53035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980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courses.json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courses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281635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courses mapped by skill — Udemy, Coursera, YouTube, free+paid — with ratings, duration, instructor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8595360" cy="53035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28416"/>
            <a:ext cx="45720" cy="530352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015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jobs.json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6210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listings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34640" y="3419856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internships (Google, Meta, Flipkart, NVIDIA...) + 6 full-time jobs with salary, skills, apply links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8595360" cy="53035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931920"/>
            <a:ext cx="45720" cy="530352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05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challenges.json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challenges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34640" y="402336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gamified challenges (Beginner-Advanced) with tasks, resources, points, badges + 8 badge definitions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535424"/>
            <a:ext cx="8595360" cy="53035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535424"/>
            <a:ext cx="45720" cy="530352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085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interview_questions.json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rounds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34640" y="462686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interview rounds: 10 aptitude, 10 technical (JS/Python/React/DB), 8 DSA, 8 HR (STAR), 5 system design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8E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&amp; Running the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2798064" cy="40233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2798064" cy="4572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1005840"/>
            <a:ext cx="347472" cy="347472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Install Dependencies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3192" y="1901952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92024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https://github.com/your-repo/skillgraph-ai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3192" y="2432304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45059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skillgraph-ai/backend &amp;&amp; npm install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3192" y="2962656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98094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../frontend &amp;&amp; npm install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3192" y="3493008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1129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ml-service/requirements.txt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27832" y="868680"/>
            <a:ext cx="2798064" cy="40233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868680"/>
            <a:ext cx="2798064" cy="4572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1005840"/>
            <a:ext cx="347472" cy="347472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64992" y="14173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Environment Variables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64992" y="1901952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92024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backend/.env.example backend/.env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64992" y="2432304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245059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Set: MONGODB_URI, JWT_SECRET, ML_SERVICE_URL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64992" y="2962656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98094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Set: GOOGLE_CLIENT_ID, GOOGLE_CLIENT_SECRET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64992" y="3493008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351129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Set: LINKEDIN_CLIENT_ID, LINKEDIN_CLIENT_SECRET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99632" y="868680"/>
            <a:ext cx="2798064" cy="402336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868680"/>
            <a:ext cx="2798064" cy="45720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1005840"/>
            <a:ext cx="347472" cy="347472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36792" y="14173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 3 Services (3 Terminals)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36792" y="1901952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192024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1 — ML Service (Port 8000)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36792" y="2432304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245059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ml-service &amp;&amp; uvicorn main:app --reload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36792" y="2962656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298094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 — Backend (Port 5000)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36792" y="3493008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51129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 &amp;&amp; npm run dev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36792" y="4023360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404164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3 — Frontend (Port 3000)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36792" y="4553712"/>
            <a:ext cx="2542032" cy="475488"/>
          </a:xfrm>
          <a:prstGeom prst="rect">
            <a:avLst/>
          </a:prstGeom>
          <a:solidFill>
            <a:srgbClr val="0F1D36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457200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 &amp;&amp; npm start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727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Open http://localhost:3000 — Sign up → Analyze Skills → Get Your Career Roadmap!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8E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 Preparation — Expected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169664" cy="10058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45720" cy="10058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926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microservices architecture?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24358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ML in Python (sklearn), backend in Node.js (async I/O), frontend in React. Each scales independently. A slow ML job won't block API responses.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0016" y="914400"/>
            <a:ext cx="4169664" cy="10058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0016" y="914400"/>
            <a:ext cx="45720" cy="100584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96926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TF-IDF over Word2Vec/BERT?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82896" y="124358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TF-IDF is interpretable, fast, needs no GPU, and works perfectly for structured keyword matching across 20 job roles. Embeddings would be overkill.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011680"/>
            <a:ext cx="4169664" cy="10058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011680"/>
            <a:ext cx="45720" cy="1005840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06654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graph-based learning path work?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4086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Skills are a directed graph (HTML→CSS→JS→React). BFS discovers all prerequisites. Kahn's topological sort guarantees correct learning order.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0016" y="2011680"/>
            <a:ext cx="4169664" cy="10058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2011680"/>
            <a:ext cx="45720" cy="100584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06654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is user data secured?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82896" y="234086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JWT tokens (7-day expiry), bcrypt password hashing (10 rounds), express-validator input validation, Mongoose injection prevention, 15MB file size limits.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108960"/>
            <a:ext cx="4169664" cy="10058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108960"/>
            <a:ext cx="45720" cy="1005840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16382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OAuth (Google/LinkedIn) work?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343814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Passport.js handles OAuth 2.0 flow: user clicks → redirect to Google → user consents → Google sends code → we exchange for profile → create/find user → issue JWT.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0016" y="3108960"/>
            <a:ext cx="4169664" cy="10058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3108960"/>
            <a:ext cx="45720" cy="10058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316382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Socket.io used for?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82896" y="343814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Real-time bidirectional chat. Clients join rooms (general, DSA, ML). Messages saved to MongoDB. Online presence tracked via Map(userId → socketId).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206240"/>
            <a:ext cx="4169664" cy="10058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4206240"/>
            <a:ext cx="45720" cy="100584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6110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the leaderboard work?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" y="453542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MongoDB query sorts users by points descending. Points awarded for: analysis (+10), challenge (+100-500), cert (+20), community post (+5), skill complete (+50).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0016" y="4206240"/>
            <a:ext cx="4169664" cy="100584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0016" y="4206240"/>
            <a:ext cx="45720" cy="1005840"/>
          </a:xfrm>
          <a:prstGeom prst="rect">
            <a:avLst/>
          </a:prstGeom>
          <a:solidFill>
            <a:srgbClr val="38E29A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426110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is Certificate OCR implemented?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82896" y="453542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User uploads PDF/image → FastAPI receives it → PyPDF2 or Tesseract OCR extracts text → NLP skill extractor finds skill keywords → returns skill list + confidence score.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SkillGraph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46888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F7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Intelligence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3-tier microservice 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939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TF-IDF ML career prediction (20 roles)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Graph-based learning paths (BFS + Topo Sort)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OCR certificate verifier (Tesseract)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895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chat via Socket.io WebSocket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Google + LinkedIn OAuth login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198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Gamification: challenges, badges, leaderboard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6850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Student community social feed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9502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Career Assistant (Claude API)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2153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Job matching for 14 real opportunities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4805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5-round interview preparation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7457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Career roadmaps with curated courses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657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777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03327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33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103327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033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103327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1033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32588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325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132588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325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190195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901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190195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1901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0" y="190195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1901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1945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Passport.js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21945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72400" y="21945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277063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770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277063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770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72400" y="277063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2770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06324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063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9360" y="306324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3063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72400" y="306324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38E2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3063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E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3383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46320" y="363931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3639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9360" y="363931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3639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46320" y="4251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46320" y="450799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4507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09360" y="450799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4507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OAuth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72400" y="450799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F1D36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72400" y="4507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46320" y="4572000"/>
            <a:ext cx="4023360" cy="438912"/>
          </a:xfrm>
          <a:prstGeom prst="rect">
            <a:avLst/>
          </a:prstGeom>
          <a:solidFill>
            <a:srgbClr val="0B1528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4636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 + FastAPI + MongoDB + ML = Complete Career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SkillGraph AI - Career Intelligence Platform</dc:title>
  <dc:subject>PptxGenJS Presentation</dc:subject>
  <dc:creator>PptxGenJS</dc:creator>
  <cp:lastModifiedBy>PptxGenJS</cp:lastModifiedBy>
  <cp:revision>1</cp:revision>
  <dcterms:created xsi:type="dcterms:W3CDTF">2026-03-06T16:07:51Z</dcterms:created>
  <dcterms:modified xsi:type="dcterms:W3CDTF">2026-03-06T16:07:51Z</dcterms:modified>
</cp:coreProperties>
</file>